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822960"/>
            <a:ext cx="4389120" cy="4389120"/>
          </a:xfrm>
          <a:prstGeom prst="ellipse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82880"/>
            <a:ext cx="3108960" cy="3108960"/>
          </a:xfrm>
          <a:prstGeom prst="ellipse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57200"/>
            <a:ext cx="1828800" cy="1828800"/>
          </a:xfrm>
          <a:prstGeom prst="ellipse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49640" y="1965960"/>
            <a:ext cx="2240280" cy="3794760"/>
          </a:xfrm>
          <a:prstGeom prst="roundRect">
            <a:avLst/>
          </a:prstGeom>
          <a:solidFill>
            <a:srgbClr val="091226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2221992"/>
            <a:ext cx="1874519" cy="327355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99448" y="2304288"/>
            <a:ext cx="749808" cy="91440"/>
          </a:xfrm>
          <a:prstGeom prst="round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2670048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3DBE75"/>
                </a:solidFill>
                <a:latin typeface="Aptos"/>
              </a:defRPr>
            </a:pPr>
            <a:r>
              <a:t>ANDROID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3154680"/>
            <a:ext cx="1444752" cy="438912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5984" y="3236976"/>
            <a:ext cx="12984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3822191"/>
            <a:ext cx="1444752" cy="438912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3904487"/>
            <a:ext cx="12984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XML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4489704"/>
            <a:ext cx="1444752" cy="438912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572000"/>
            <a:ext cx="12984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33C4BE"/>
                </a:solidFill>
                <a:latin typeface="Aptos"/>
              </a:defRPr>
            </a:pPr>
            <a:r>
              <a:t>RINGKASAN MATERI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261872"/>
            <a:ext cx="694944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3400" b="1" i="0">
                <a:solidFill>
                  <a:srgbClr val="F8FAFD"/>
                </a:solidFill>
                <a:latin typeface="Aptos"/>
              </a:defRPr>
            </a:pPr>
            <a:r>
              <a:t>PEMROGRAMAN</a:t>
            </a:r>
          </a:p>
          <a:p>
            <a:pPr algn="l">
              <a:spcAft>
                <a:spcPts val="500"/>
              </a:spcAft>
              <a:defRPr sz="3400" b="1" i="0">
                <a:solidFill>
                  <a:srgbClr val="F8FAFD"/>
                </a:solidFill>
                <a:latin typeface="Aptos"/>
              </a:defRPr>
            </a:pPr>
            <a:r>
              <a:t>MOBILE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953512"/>
            <a:ext cx="69494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E2EAF4"/>
                </a:solidFill>
                <a:latin typeface="Aptos"/>
              </a:defRPr>
            </a:pPr>
            <a:r>
              <a:t>Pengembangan Aplikasi Android dengan Java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3685032"/>
            <a:ext cx="960120" cy="54864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069080"/>
            <a:ext cx="6858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F8FAFD"/>
                </a:solidFill>
                <a:latin typeface="Aptos"/>
              </a:defRPr>
            </a:pPr>
            <a:r>
              <a:t>Suci Rizki Ramadhani Damanik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489704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9CAEC6"/>
                </a:solidFill>
                <a:latin typeface="Aptos"/>
              </a:defRPr>
            </a:pPr>
            <a:r>
              <a:t>NIM  2302162     •     KELAS  23S04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56048"/>
            <a:ext cx="6858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E2EAF4"/>
                </a:solidFill>
                <a:latin typeface="Aptos"/>
              </a:defRPr>
            </a:pPr>
            <a:r>
              <a:t>Dosen Pengampu: Abdi Rahim Damanik, M.Kom.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6236208"/>
            <a:ext cx="6858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9CAEC6"/>
                </a:solidFill>
                <a:latin typeface="Aptos"/>
              </a:defRPr>
            </a:pPr>
            <a:r>
              <a:t>MATA KULIAH  /  PEMROGRAMAN MOBILE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DASAR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Pengenalan Pemrograman Mobile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02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72768"/>
            <a:ext cx="6537960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A3B"/>
                </a:solidFill>
                <a:latin typeface="Aptos"/>
              </a:defRPr>
            </a:pPr>
            <a:r>
              <a:rPr b="1" sz="1700">
                <a:solidFill>
                  <a:srgbClr val="2370D2"/>
                </a:solidFill>
              </a:rPr>
              <a:t>• Pemrograman mobile</a:t>
            </a:r>
            <a:r>
              <a:rPr sz="1700">
                <a:solidFill>
                  <a:srgbClr val="1E2A3B"/>
                </a:solidFill>
              </a:rPr>
              <a:t>  proses membuat aplikasi untuk smartphone dan tablet.</a:t>
            </a:r>
          </a:p>
          <a:p>
            <a:pPr>
              <a:spcAft>
                <a:spcPts val="1100"/>
              </a:spcAft>
              <a:defRPr sz="1700">
                <a:solidFill>
                  <a:srgbClr val="1E2A3B"/>
                </a:solidFill>
                <a:latin typeface="Aptos"/>
              </a:defRPr>
            </a:pPr>
            <a:r>
              <a:rPr b="1" sz="1700">
                <a:solidFill>
                  <a:srgbClr val="2370D2"/>
                </a:solidFill>
              </a:rPr>
              <a:t>• Android</a:t>
            </a:r>
            <a:r>
              <a:rPr sz="1700">
                <a:solidFill>
                  <a:srgbClr val="1E2A3B"/>
                </a:solidFill>
              </a:rPr>
              <a:t>  sistem operasi mobile berbasis kernel Linux dan bersifat open source.</a:t>
            </a:r>
          </a:p>
          <a:p>
            <a:pPr>
              <a:spcAft>
                <a:spcPts val="1100"/>
              </a:spcAft>
              <a:defRPr sz="1700">
                <a:solidFill>
                  <a:srgbClr val="1E2A3B"/>
                </a:solidFill>
                <a:latin typeface="Aptos"/>
              </a:defRPr>
            </a:pPr>
            <a:r>
              <a:rPr b="1" sz="1700">
                <a:solidFill>
                  <a:srgbClr val="2370D2"/>
                </a:solidFill>
              </a:rPr>
              <a:t>• Ruang penggunaan</a:t>
            </a:r>
            <a:r>
              <a:rPr sz="1700">
                <a:solidFill>
                  <a:srgbClr val="1E2A3B"/>
                </a:solidFill>
              </a:rPr>
              <a:t>  komunikasi, pendidikan, hiburan, layanan, dan pengelolaan data.</a:t>
            </a:r>
          </a:p>
          <a:p>
            <a:pPr>
              <a:spcAft>
                <a:spcPts val="1100"/>
              </a:spcAft>
              <a:defRPr sz="1700">
                <a:solidFill>
                  <a:srgbClr val="1E2A3B"/>
                </a:solidFill>
                <a:latin typeface="Aptos"/>
              </a:defRPr>
            </a:pPr>
            <a:r>
              <a:rPr b="1" sz="1700">
                <a:solidFill>
                  <a:srgbClr val="2370D2"/>
                </a:solidFill>
              </a:rPr>
              <a:t>• Interaksi</a:t>
            </a:r>
            <a:r>
              <a:rPr sz="1700">
                <a:solidFill>
                  <a:srgbClr val="1E2A3B"/>
                </a:solidFill>
              </a:rPr>
              <a:t>  memanfaatkan sentuhan layar seperti mengetuk, menggeser, dan mencubit.</a:t>
            </a:r>
          </a:p>
          <a:p>
            <a:pPr>
              <a:spcAft>
                <a:spcPts val="1100"/>
              </a:spcAft>
              <a:defRPr sz="1700">
                <a:solidFill>
                  <a:srgbClr val="1E2A3B"/>
                </a:solidFill>
                <a:latin typeface="Aptos"/>
              </a:defRPr>
            </a:pPr>
            <a:r>
              <a:rPr b="1" sz="1700">
                <a:solidFill>
                  <a:srgbClr val="2370D2"/>
                </a:solidFill>
              </a:rPr>
              <a:t>• Bahasa yang dipelajari</a:t>
            </a:r>
            <a:r>
              <a:rPr sz="1700">
                <a:solidFill>
                  <a:srgbClr val="1E2A3B"/>
                </a:solidFill>
              </a:rPr>
              <a:t>  Java untuk logika aplikasi, dengan XML untuk menyusun tampilan.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691640"/>
            <a:ext cx="3566160" cy="11430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691640"/>
            <a:ext cx="64008" cy="1143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59" y="1837944"/>
            <a:ext cx="3246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PERANGKAT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2258568"/>
            <a:ext cx="32461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Smartphone dan tablet sebagai tempat aplikasi dijalankan.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035808"/>
            <a:ext cx="3566160" cy="11430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3035808"/>
            <a:ext cx="64008" cy="114300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3182112"/>
            <a:ext cx="3246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BAHASA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59" y="3602736"/>
            <a:ext cx="32461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Java menangani logika; XML mendeskripsikan layout.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379976"/>
            <a:ext cx="3566160" cy="11430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4379976"/>
            <a:ext cx="64008" cy="114300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59" y="4526280"/>
            <a:ext cx="3246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TUJUAN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9" y="4946904"/>
            <a:ext cx="32461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Aplikasi praktis yang mudah diakses kapan saja.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65099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565099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73328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72414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Pemrograman mobile berfokus pada aplikasi yang nyaman digunakan melalui perangkat seluler.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DASAR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Arsitektur dan Lingkungan Pengembangan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03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6583680" cy="566928"/>
          </a:xfrm>
          <a:prstGeom prst="round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45336"/>
            <a:ext cx="2423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8FAFD"/>
                </a:solidFill>
                <a:latin typeface="Aptos"/>
              </a:defRPr>
            </a:pPr>
            <a:r>
              <a:t>SYSTEM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545336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Aplikasi sistem dan aplikasi bawaan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203704"/>
            <a:ext cx="6583680" cy="566928"/>
          </a:xfrm>
          <a:prstGeom prst="round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267712"/>
            <a:ext cx="2423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8FAFD"/>
                </a:solidFill>
                <a:latin typeface="Aptos"/>
              </a:defRPr>
            </a:pPr>
            <a:r>
              <a:t>JAVA API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67712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Activity, UI, notifikasi, resource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926080"/>
            <a:ext cx="6583680" cy="566928"/>
          </a:xfrm>
          <a:prstGeom prst="round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90088"/>
            <a:ext cx="2423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8FAFD"/>
                </a:solidFill>
                <a:latin typeface="Aptos"/>
              </a:defRPr>
            </a:pPr>
            <a:r>
              <a:t>ANDROID RUNTIME + LIBRARIES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990088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ART dan pustaka C/C++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648456"/>
            <a:ext cx="6583680" cy="566928"/>
          </a:xfrm>
          <a:prstGeom prst="roundRect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712464"/>
            <a:ext cx="2423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8FAFD"/>
                </a:solidFill>
                <a:latin typeface="Aptos"/>
              </a:defRPr>
            </a:pPr>
            <a:r>
              <a:t>HARDWARE ABSTRACTION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712464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Jembatan ke kamera, Bluetooth, dan perangkat keras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370832"/>
            <a:ext cx="6583680" cy="566928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434840"/>
            <a:ext cx="2423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8FAFD"/>
                </a:solidFill>
                <a:latin typeface="Aptos"/>
              </a:defRPr>
            </a:pPr>
            <a:r>
              <a:t>LINUX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43484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Memori, proses, keamanan, dan driver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572768"/>
            <a:ext cx="3401568" cy="1024128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18120" y="1572768"/>
            <a:ext cx="64008" cy="10241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719072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JDK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139696"/>
            <a:ext cx="30815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Perangkat pengembangan Java.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816352"/>
            <a:ext cx="3401568" cy="1024128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2816352"/>
            <a:ext cx="64008" cy="1024128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962656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ANDROID 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383280"/>
            <a:ext cx="30815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IDE untuk menulis, menjalankan, dan debugging.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4059936"/>
            <a:ext cx="3401568" cy="1024128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4059936"/>
            <a:ext cx="64008" cy="1024128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4206240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ANDROID SDK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626864"/>
            <a:ext cx="308152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Tools dan API untuk membangun aplikasi.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65099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" y="565099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73328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72414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Lapisan Android saling mendukung agar aplikasi dapat berkomunikasi dengan sistem dan perangkat keras.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MULAI MEMBANGUN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Instalasi Android Studio dan Project Pertama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04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00200"/>
            <a:ext cx="3401568" cy="13898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764792"/>
            <a:ext cx="438912" cy="438912"/>
          </a:xfrm>
          <a:prstGeom prst="ellipse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865376"/>
            <a:ext cx="42062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178308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Siapkan komputer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59152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Pastikan ruang penyimpanan dan memori cukup.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600200"/>
            <a:ext cx="3401568" cy="13898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81728" y="1764792"/>
            <a:ext cx="438912" cy="438912"/>
          </a:xfrm>
          <a:prstGeom prst="ellipse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865376"/>
            <a:ext cx="42062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178308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Pasang Android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359152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Instal IDE dan komponen SDK yang diperlukan.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1600200"/>
            <a:ext cx="3401568" cy="13898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49056" y="1764792"/>
            <a:ext cx="438912" cy="438912"/>
          </a:xfrm>
          <a:prstGeom prst="ellipse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865376"/>
            <a:ext cx="42062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178308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Buat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359152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Pilih template, nama aplikasi, dan bahasa Java.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337560"/>
            <a:ext cx="3401568" cy="13898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3502152"/>
            <a:ext cx="438912" cy="438912"/>
          </a:xfrm>
          <a:prstGeom prst="ellipse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3602736"/>
            <a:ext cx="42062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" y="352044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Bangun tampilan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096511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Susun komponen antarmuka melalui XML.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337560"/>
            <a:ext cx="3401568" cy="13898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3502152"/>
            <a:ext cx="438912" cy="438912"/>
          </a:xfrm>
          <a:prstGeom prst="ellipse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3602736"/>
            <a:ext cx="42062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4" y="352044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Tulis logika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4" y="4096511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Hubungkan tampilan dengan kode Java.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4464" y="3337560"/>
            <a:ext cx="3401568" cy="13898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49056" y="3502152"/>
            <a:ext cx="438912" cy="438912"/>
          </a:xfrm>
          <a:prstGeom prst="ellipse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602736"/>
            <a:ext cx="42062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352044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Jalankan &amp; uji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4096511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Gunakan emulator atau perangkat Android.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23951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STRUKTUR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04688"/>
            <a:ext cx="106070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manifests  •  konfigurasi aplikasi     |     java  •  kode program     |     res  •  layout, gambar, teks     |     build.gradle  •  build &amp; dependensi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5989320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" y="5989320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6071616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6062472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Aplikasi Android menggabungkan kode Java, layout XML, resource, dan konfigurasi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KOMPONEN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Komponen Dasar Aplikasi Android: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05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64922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D1B36"/>
                </a:solidFill>
                <a:latin typeface="Aptos"/>
              </a:defRPr>
            </a:pPr>
            <a:r>
              <a:t>Activity adalah komponen yang mengelola satu layar antarmuka tempat pengguna berinteraksi.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06040"/>
            <a:ext cx="1627632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606040"/>
            <a:ext cx="1627632" cy="29260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3127248"/>
            <a:ext cx="140817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0D1B36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3566160"/>
            <a:ext cx="140817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Masuk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321868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2370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1" y="2606040"/>
            <a:ext cx="1627632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53511" y="2606040"/>
            <a:ext cx="1627632" cy="292608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39" y="3127248"/>
            <a:ext cx="140817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0D1B36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3566160"/>
            <a:ext cx="140817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Halaman utama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1868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2370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8344" y="2606040"/>
            <a:ext cx="1627632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38344" y="2606040"/>
            <a:ext cx="1627632" cy="292608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8072" y="3127248"/>
            <a:ext cx="140817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0D1B36"/>
                </a:solidFill>
                <a:latin typeface="Aptos"/>
              </a:defRPr>
            </a:pPr>
            <a:r>
              <a:t>PROFIL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3566160"/>
            <a:ext cx="140817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Data pengguna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664208"/>
            <a:ext cx="3886200" cy="1115568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1664208"/>
            <a:ext cx="64008" cy="111556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810512"/>
            <a:ext cx="3566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1. Layout XML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231136"/>
            <a:ext cx="35661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Mendefinisikan komponen tampilan.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2999232"/>
            <a:ext cx="3886200" cy="1115568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2999232"/>
            <a:ext cx="64008" cy="1115568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3145536"/>
            <a:ext cx="3566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2. Class Java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566160"/>
            <a:ext cx="35661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Mengatur perilaku dan interaksi layar.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4334256"/>
            <a:ext cx="3886200" cy="1115568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4334256"/>
            <a:ext cx="64008" cy="1115568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4480560"/>
            <a:ext cx="3566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3. setContentView()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901184"/>
            <a:ext cx="35661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Menghubungkan Activity dengan layout.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65099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" y="565099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73328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72414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Activity menjadi tempat menangani interaksi pada sebuah layar dan dapat bekerja bersama Activity lain.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KOMPONEN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Activity Lifecycle, Intent, dan Fragment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06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ACTIVITY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10512"/>
            <a:ext cx="1828800" cy="65836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01952"/>
            <a:ext cx="1645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D1B36"/>
                </a:solidFill>
                <a:latin typeface="Aptos"/>
              </a:defRPr>
            </a:pPr>
            <a:r>
              <a:t>onCreate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56677E"/>
                </a:solidFill>
                <a:latin typeface="Aptos"/>
              </a:defRPr>
            </a:pPr>
            <a:r>
              <a:t>dibuat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5" y="1810512"/>
            <a:ext cx="1828800" cy="65836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1901952"/>
            <a:ext cx="1645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D1B36"/>
                </a:solidFill>
                <a:latin typeface="Aptos"/>
              </a:defRPr>
            </a:pPr>
            <a:r>
              <a:t>onStart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2176272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56677E"/>
                </a:solidFill>
                <a:latin typeface="Aptos"/>
              </a:defRPr>
            </a:pPr>
            <a:r>
              <a:t>terlihat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2624" y="1810512"/>
            <a:ext cx="1828800" cy="65836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901952"/>
            <a:ext cx="1645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D1B36"/>
                </a:solidFill>
                <a:latin typeface="Aptos"/>
              </a:defRPr>
            </a:pPr>
            <a:r>
              <a:t>onResume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176272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56677E"/>
                </a:solidFill>
                <a:latin typeface="Aptos"/>
              </a:defRPr>
            </a:pPr>
            <a:r>
              <a:t>aktif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2743200"/>
            <a:ext cx="1828800" cy="65836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2834640"/>
            <a:ext cx="1645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D1B36"/>
                </a:solidFill>
                <a:latin typeface="Aptos"/>
              </a:defRPr>
            </a:pPr>
            <a:r>
              <a:t>onPause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108960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56677E"/>
                </a:solidFill>
                <a:latin typeface="Aptos"/>
              </a:defRPr>
            </a:pPr>
            <a:r>
              <a:t>dijeda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43200"/>
            <a:ext cx="1828800" cy="65836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62656" y="2834640"/>
            <a:ext cx="1645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D1B36"/>
                </a:solidFill>
                <a:latin typeface="Aptos"/>
              </a:defRPr>
            </a:pPr>
            <a:r>
              <a:t>onStop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3108960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56677E"/>
                </a:solidFill>
                <a:latin typeface="Aptos"/>
              </a:defRPr>
            </a:pPr>
            <a:r>
              <a:t>tak terlihat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2624" y="2743200"/>
            <a:ext cx="1828800" cy="65836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4064" y="2834640"/>
            <a:ext cx="1645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D1B36"/>
                </a:solidFill>
                <a:latin typeface="Aptos"/>
              </a:defRPr>
            </a:pPr>
            <a:r>
              <a:t>onDestroy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4064" y="3108960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56677E"/>
                </a:solidFill>
                <a:latin typeface="Aptos"/>
              </a:defRPr>
            </a:pPr>
            <a:r>
              <a:t>dihancurkan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1554480"/>
            <a:ext cx="3977639" cy="11887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1554480"/>
            <a:ext cx="64008" cy="118872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1700784"/>
            <a:ext cx="365759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121408"/>
            <a:ext cx="365759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Menghubungkan komponen atau menjalankan aksi.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Explicit: tujuan tertentu • Implicit: aksi umum.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2971800"/>
            <a:ext cx="3977639" cy="11887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2971800"/>
            <a:ext cx="64008" cy="118872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118104"/>
            <a:ext cx="365759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MEMBAWA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538728"/>
            <a:ext cx="365759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putExtra() mengirim data; Activity tujuan membaca data dari Intent.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9480" y="4389120"/>
            <a:ext cx="3977639" cy="11887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9480" y="4389120"/>
            <a:ext cx="64008" cy="118872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4535424"/>
            <a:ext cx="365759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D1B36"/>
                </a:solidFill>
                <a:latin typeface="Aptos"/>
              </a:defRPr>
            </a:pPr>
            <a:r>
              <a:t>FRAGMENT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956048"/>
            <a:ext cx="365759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Bagian UI di dalam Activity dengan lifecycle sendiri yang terkait induknya.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65099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" y="565099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73328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72414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Lifecycle mengatur keadaan layar, Intent menghubungkan komponen, dan Fragment membantu membagi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DESAIN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Antarmuka Pengguna dan Pengalaman Pengguna (UI/UX)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07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572768"/>
            <a:ext cx="5074920" cy="146304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572768"/>
            <a:ext cx="64008" cy="146304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19072"/>
            <a:ext cx="4754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D1B36"/>
                </a:solidFill>
                <a:latin typeface="Aptos"/>
              </a:defRPr>
            </a:pPr>
            <a:r>
              <a:t>USER INTERFACE (UI)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39696"/>
            <a:ext cx="4754880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Hal yang dilihat dan disentuh: tombol, teks, gambar, menu, dan formulir.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72768"/>
            <a:ext cx="5074920" cy="146304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572768"/>
            <a:ext cx="64008" cy="146304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19072"/>
            <a:ext cx="4754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D1B36"/>
                </a:solidFill>
                <a:latin typeface="Aptos"/>
              </a:defRPr>
            </a:pPr>
            <a:r>
              <a:t>USER EXPERIENCE (UX)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39696"/>
            <a:ext cx="4754880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Pengalaman saat memakai aplikasi: mudah, nyaman, jelas, dan tidak membingungkan.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KOMPONEN PENDUKUNG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104241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A3B"/>
                </a:solidFill>
                <a:latin typeface="Aptos"/>
              </a:defRPr>
            </a:pPr>
            <a:r>
              <a:rPr b="1" sz="1500">
                <a:solidFill>
                  <a:srgbClr val="2370D2"/>
                </a:solidFill>
              </a:rPr>
              <a:t>• View</a:t>
            </a:r>
            <a:r>
              <a:rPr sz="1500">
                <a:solidFill>
                  <a:srgbClr val="1E2A3B"/>
                </a:solidFill>
              </a:rPr>
              <a:t>  TextView, EditText, Button, ImageView.</a:t>
            </a:r>
          </a:p>
          <a:p>
            <a:pPr>
              <a:spcAft>
                <a:spcPts val="600"/>
              </a:spcAft>
              <a:defRPr sz="1500">
                <a:solidFill>
                  <a:srgbClr val="1E2A3B"/>
                </a:solidFill>
                <a:latin typeface="Aptos"/>
              </a:defRPr>
            </a:pPr>
            <a:r>
              <a:rPr b="1" sz="1500">
                <a:solidFill>
                  <a:srgbClr val="2370D2"/>
                </a:solidFill>
              </a:rPr>
              <a:t>• ViewGroup</a:t>
            </a:r>
            <a:r>
              <a:rPr sz="1500">
                <a:solidFill>
                  <a:srgbClr val="1E2A3B"/>
                </a:solidFill>
              </a:rPr>
              <a:t>  wadah yang mengatur posisi beberapa View.</a:t>
            </a:r>
          </a:p>
          <a:p>
            <a:pPr>
              <a:spcAft>
                <a:spcPts val="600"/>
              </a:spcAft>
              <a:defRPr sz="1500">
                <a:solidFill>
                  <a:srgbClr val="1E2A3B"/>
                </a:solidFill>
                <a:latin typeface="Aptos"/>
              </a:defRPr>
            </a:pPr>
            <a:r>
              <a:rPr b="1" sz="1500">
                <a:solidFill>
                  <a:srgbClr val="2370D2"/>
                </a:solidFill>
              </a:rPr>
              <a:t>• Style &amp; Theme</a:t>
            </a:r>
            <a:r>
              <a:rPr sz="1500">
                <a:solidFill>
                  <a:srgbClr val="1E2A3B"/>
                </a:solidFill>
              </a:rPr>
              <a:t>  menjaga konsistensi visual komponen dan aplikasi.</a:t>
            </a:r>
          </a:p>
          <a:p>
            <a:pPr>
              <a:spcAft>
                <a:spcPts val="600"/>
              </a:spcAft>
              <a:defRPr sz="1500">
                <a:solidFill>
                  <a:srgbClr val="1E2A3B"/>
                </a:solidFill>
                <a:latin typeface="Aptos"/>
              </a:defRPr>
            </a:pPr>
            <a:r>
              <a:rPr b="1" sz="1500">
                <a:solidFill>
                  <a:srgbClr val="2370D2"/>
                </a:solidFill>
              </a:rPr>
              <a:t>• Localization</a:t>
            </a:r>
            <a:r>
              <a:rPr sz="1500">
                <a:solidFill>
                  <a:srgbClr val="1E2A3B"/>
                </a:solidFill>
              </a:rPr>
              <a:t>  menyesuaikan bahasa atau konten dengan pengguna.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65099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565099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73328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72414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UI berfokus pada tampilan; UX berfokus pada pengalaman. Keduanya perlu dirancang bersama.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DESAIN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Layout, Interaksi, dan Navigasi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08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2011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JENIS LAYOUT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487168" cy="82296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64008" cy="82296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29384"/>
            <a:ext cx="2167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0D1B36"/>
                </a:solidFill>
                <a:latin typeface="Aptos"/>
              </a:defRPr>
            </a:pPr>
            <a:r>
              <a:t>LinearLayout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50008"/>
            <a:ext cx="21671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1E2A3B"/>
                </a:solidFill>
                <a:latin typeface="Aptos"/>
              </a:defRPr>
            </a:pPr>
            <a:r>
              <a:t>Susunan vertikal / horizontal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783080"/>
            <a:ext cx="2487168" cy="82296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783080"/>
            <a:ext cx="64008" cy="82296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1929384"/>
            <a:ext cx="2167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0D1B36"/>
                </a:solidFill>
                <a:latin typeface="Aptos"/>
              </a:defRPr>
            </a:pPr>
            <a:r>
              <a:t>ConstraintLayout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50008"/>
            <a:ext cx="21671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1E2A3B"/>
                </a:solidFill>
                <a:latin typeface="Aptos"/>
              </a:defRPr>
            </a:pPr>
            <a:r>
              <a:t>Posisi berdasarkan constraint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07208"/>
            <a:ext cx="2487168" cy="82296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807208"/>
            <a:ext cx="64008" cy="82296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953512"/>
            <a:ext cx="2167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0D1B36"/>
                </a:solidFill>
                <a:latin typeface="Aptos"/>
              </a:defRPr>
            </a:pPr>
            <a:r>
              <a:t>GridLayout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74136"/>
            <a:ext cx="21671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1E2A3B"/>
                </a:solidFill>
                <a:latin typeface="Aptos"/>
              </a:defRPr>
            </a:pPr>
            <a:r>
              <a:t>Susunan baris dan kolom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807208"/>
            <a:ext cx="2487168" cy="82296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2807208"/>
            <a:ext cx="64008" cy="822960"/>
          </a:xfrm>
          <a:prstGeom prst="rect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2953512"/>
            <a:ext cx="2167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0D1B36"/>
                </a:solidFill>
                <a:latin typeface="Aptos"/>
              </a:defRPr>
            </a:pPr>
            <a:r>
              <a:t>TableLayout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374136"/>
            <a:ext cx="21671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1E2A3B"/>
                </a:solidFill>
                <a:latin typeface="Aptos"/>
              </a:defRPr>
            </a:pPr>
            <a:r>
              <a:t>Susunan menyerupai tabel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444752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KOMPONEN INTERAKSI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783080"/>
            <a:ext cx="480060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A3B"/>
                </a:solidFill>
                <a:latin typeface="Aptos"/>
              </a:defRPr>
            </a:pPr>
            <a:r>
              <a:rPr b="1" sz="1300">
                <a:solidFill>
                  <a:srgbClr val="2370D2"/>
                </a:solidFill>
              </a:rPr>
              <a:t>• Button</a:t>
            </a:r>
            <a:r>
              <a:rPr sz="1300">
                <a:solidFill>
                  <a:srgbClr val="1E2A3B"/>
                </a:solidFill>
              </a:rPr>
              <a:t>  menjalankan aksi.</a:t>
            </a:r>
          </a:p>
          <a:p>
            <a:pPr>
              <a:spcAft>
                <a:spcPts val="600"/>
              </a:spcAft>
              <a:defRPr sz="1300">
                <a:solidFill>
                  <a:srgbClr val="1E2A3B"/>
                </a:solidFill>
                <a:latin typeface="Aptos"/>
              </a:defRPr>
            </a:pPr>
            <a:r>
              <a:rPr b="1" sz="1300">
                <a:solidFill>
                  <a:srgbClr val="2370D2"/>
                </a:solidFill>
              </a:rPr>
              <a:t>• EditText</a:t>
            </a:r>
            <a:r>
              <a:rPr sz="1300">
                <a:solidFill>
                  <a:srgbClr val="1E2A3B"/>
                </a:solidFill>
              </a:rPr>
              <a:t>  menerima masukan.</a:t>
            </a:r>
          </a:p>
          <a:p>
            <a:pPr>
              <a:spcAft>
                <a:spcPts val="600"/>
              </a:spcAft>
              <a:defRPr sz="1300">
                <a:solidFill>
                  <a:srgbClr val="1E2A3B"/>
                </a:solidFill>
                <a:latin typeface="Aptos"/>
              </a:defRPr>
            </a:pPr>
            <a:r>
              <a:rPr b="1" sz="1300">
                <a:solidFill>
                  <a:srgbClr val="2370D2"/>
                </a:solidFill>
              </a:rPr>
              <a:t>• CheckBox / RadioButton</a:t>
            </a:r>
            <a:r>
              <a:rPr sz="1300">
                <a:solidFill>
                  <a:srgbClr val="1E2A3B"/>
                </a:solidFill>
              </a:rPr>
              <a:t>  memilih opsi.</a:t>
            </a:r>
          </a:p>
          <a:p>
            <a:pPr>
              <a:spcAft>
                <a:spcPts val="600"/>
              </a:spcAft>
              <a:defRPr sz="1300">
                <a:solidFill>
                  <a:srgbClr val="1E2A3B"/>
                </a:solidFill>
                <a:latin typeface="Aptos"/>
              </a:defRPr>
            </a:pPr>
            <a:r>
              <a:rPr b="1" sz="1300">
                <a:solidFill>
                  <a:srgbClr val="2370D2"/>
                </a:solidFill>
              </a:rPr>
              <a:t>• Switch / Spinner / SeekBar</a:t>
            </a:r>
            <a:r>
              <a:rPr sz="1300">
                <a:solidFill>
                  <a:srgbClr val="1E2A3B"/>
                </a:solidFill>
              </a:rPr>
              <a:t>  mengatur pilihan atau nilai.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60520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NAVIGASI &amp; PESAN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62272"/>
            <a:ext cx="1033272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A3B"/>
                </a:solidFill>
                <a:latin typeface="Aptos"/>
              </a:defRPr>
            </a:pPr>
            <a:r>
              <a:rPr b="1" sz="1300">
                <a:solidFill>
                  <a:srgbClr val="2370D2"/>
                </a:solidFill>
              </a:rPr>
              <a:t>• Navigasi dan menu</a:t>
            </a:r>
            <a:r>
              <a:rPr sz="1300">
                <a:solidFill>
                  <a:srgbClr val="1E2A3B"/>
                </a:solidFill>
              </a:rPr>
              <a:t>  membantu berpindah layar dan memilih tindakan.</a:t>
            </a:r>
          </a:p>
          <a:p>
            <a:pPr>
              <a:spcAft>
                <a:spcPts val="400"/>
              </a:spcAft>
              <a:defRPr sz="1300">
                <a:solidFill>
                  <a:srgbClr val="1E2A3B"/>
                </a:solidFill>
                <a:latin typeface="Aptos"/>
              </a:defRPr>
            </a:pPr>
            <a:r>
              <a:rPr b="1" sz="1300">
                <a:solidFill>
                  <a:srgbClr val="2370D2"/>
                </a:solidFill>
              </a:rPr>
              <a:t>• Alert Dialog</a:t>
            </a:r>
            <a:r>
              <a:rPr sz="1300">
                <a:solidFill>
                  <a:srgbClr val="1E2A3B"/>
                </a:solidFill>
              </a:rPr>
              <a:t>  menampilkan pesan atau meminta konfirmasi.</a:t>
            </a:r>
          </a:p>
          <a:p>
            <a:pPr>
              <a:spcAft>
                <a:spcPts val="400"/>
              </a:spcAft>
              <a:defRPr sz="1300">
                <a:solidFill>
                  <a:srgbClr val="1E2A3B"/>
                </a:solidFill>
                <a:latin typeface="Aptos"/>
              </a:defRPr>
            </a:pPr>
            <a:r>
              <a:rPr b="1" sz="1300">
                <a:solidFill>
                  <a:srgbClr val="2370D2"/>
                </a:solidFill>
              </a:rPr>
              <a:t>• Date/Time Picker</a:t>
            </a:r>
            <a:r>
              <a:rPr sz="1300">
                <a:solidFill>
                  <a:srgbClr val="1E2A3B"/>
                </a:solidFill>
              </a:rPr>
              <a:t>  memilih tanggal dan waktu.</a:t>
            </a:r>
          </a:p>
          <a:p>
            <a:pPr>
              <a:spcAft>
                <a:spcPts val="400"/>
              </a:spcAft>
              <a:defRPr sz="1300">
                <a:solidFill>
                  <a:srgbClr val="1E2A3B"/>
                </a:solidFill>
                <a:latin typeface="Aptos"/>
              </a:defRPr>
            </a:pPr>
            <a:r>
              <a:rPr b="1" sz="1300">
                <a:solidFill>
                  <a:srgbClr val="2370D2"/>
                </a:solidFill>
              </a:rPr>
              <a:t>• Toast</a:t>
            </a:r>
            <a:r>
              <a:rPr sz="1300">
                <a:solidFill>
                  <a:srgbClr val="1E2A3B"/>
                </a:solidFill>
              </a:rPr>
              <a:t>  memberi pesan singkat yang hilang otomatis.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92531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" y="592531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600760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99846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Komponen UI sebaiknya mudah dipahami, mudah dijangkau, dan merespons tindakan pengguna.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TAMPILAN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ListView, RecyclerView, dan Pengelolaan Gambar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09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600200"/>
            <a:ext cx="3429000" cy="192024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00200"/>
            <a:ext cx="64008" cy="192024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46504"/>
            <a:ext cx="3108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D1B36"/>
                </a:solidFill>
                <a:latin typeface="Aptos"/>
              </a:defRPr>
            </a:pPr>
            <a:r>
              <a:t>LISTVIEW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67128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Menampilkan data sebagai daftar. Cocok untuk kebutuhan sederhana dan menggunakan adapter.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600200"/>
            <a:ext cx="3429000" cy="192024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600200"/>
            <a:ext cx="64008" cy="192024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746504"/>
            <a:ext cx="3108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D1B36"/>
                </a:solidFill>
                <a:latin typeface="Aptos"/>
              </a:defRPr>
            </a:pPr>
            <a:r>
              <a:t>RECYCLERVIEW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67128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Lebih fleksibel untuk data banyak; mendukung daftar vertikal, horizontal, dan grid.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600200"/>
            <a:ext cx="3429000" cy="192024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600200"/>
            <a:ext cx="64008" cy="192024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1746504"/>
            <a:ext cx="3108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D1B36"/>
                </a:solidFill>
                <a:latin typeface="Aptos"/>
              </a:defRPr>
            </a:pPr>
            <a:r>
              <a:t>ASET GAMBAR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2167128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Drawable, Image Asset Studio, dan Vector Asset Studio mendukung ikon dan grafis.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13632"/>
            <a:ext cx="3840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CONTOH ITEM PADA DAFTAR BUKU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15968"/>
            <a:ext cx="3246120" cy="86868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4462272"/>
            <a:ext cx="502920" cy="502920"/>
          </a:xfrm>
          <a:prstGeom prst="round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994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8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16552"/>
            <a:ext cx="2240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D1B36"/>
                </a:solidFill>
                <a:latin typeface="Aptos"/>
              </a:defRPr>
            </a:pPr>
            <a:r>
              <a:t>Android Dasar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736592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Pengantar aplikasi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315968"/>
            <a:ext cx="3246120" cy="86868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17720" y="4462272"/>
            <a:ext cx="502920" cy="502920"/>
          </a:xfrm>
          <a:prstGeom prst="round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5994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8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416552"/>
            <a:ext cx="2240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D1B36"/>
                </a:solidFill>
                <a:latin typeface="Aptos"/>
              </a:defRPr>
            </a:pPr>
            <a:r>
              <a:t>Java Mobile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736592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Logika program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315968"/>
            <a:ext cx="3246120" cy="86868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75320" y="4462272"/>
            <a:ext cx="502920" cy="502920"/>
          </a:xfrm>
          <a:prstGeom prst="round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5994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8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416552"/>
            <a:ext cx="2240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D1B36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736592"/>
            <a:ext cx="2240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Pengelolaan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65099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" y="565099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73328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72414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Adapter menghubungkan sumber data dengan tampilan item; RecyclerView cocok untuk daftar yang lebih kompleks.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TUGAS TERJADWAL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Background Task dalam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10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481328"/>
            <a:ext cx="104241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0D1B36"/>
                </a:solidFill>
                <a:latin typeface="Aptos"/>
              </a:defRPr>
            </a:pPr>
            <a:r>
              <a:t>Background task adalah pekerjaan di belakang layar yang tidak mengharuskan pengguna terus melihat layar prosesnya.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3383280" cy="16459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06040"/>
            <a:ext cx="64008" cy="164592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52344"/>
            <a:ext cx="30632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AlarmManager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72968"/>
            <a:ext cx="306324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Menjadwalkan aksi berdasarkan waktu tertentu.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2606040"/>
            <a:ext cx="3383280" cy="16459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0288" y="2606040"/>
            <a:ext cx="64008" cy="164592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752344"/>
            <a:ext cx="30632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JobScheduler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3172968"/>
            <a:ext cx="306324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Menjalankan pekerjaan ketika kondisi yang ditentukan terpenuhi.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6" y="2606040"/>
            <a:ext cx="3383280" cy="16459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57616" y="2606040"/>
            <a:ext cx="64008" cy="164592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752344"/>
            <a:ext cx="30632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3172968"/>
            <a:ext cx="306324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Menyampaikan informasi kepada pengguna di luar layar utama.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81728"/>
            <a:ext cx="2331720" cy="566928"/>
          </a:xfrm>
          <a:prstGeom prst="round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4168" y="4846320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8FAFD"/>
                </a:solidFill>
                <a:latin typeface="Aptos"/>
              </a:defRPr>
            </a:pPr>
            <a:r>
              <a:t>Jadwalkan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782312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2370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9" y="4681728"/>
            <a:ext cx="2331720" cy="566928"/>
          </a:xfrm>
          <a:prstGeom prst="round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1807" y="4846320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8FAFD"/>
                </a:solidFill>
                <a:latin typeface="Aptos"/>
              </a:defRPr>
            </a:pPr>
            <a:r>
              <a:t>Sistem memeriksa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782312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2370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19" y="4681728"/>
            <a:ext cx="2331720" cy="566928"/>
          </a:xfrm>
          <a:prstGeom prst="round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7" y="4846320"/>
            <a:ext cx="2103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8FAFD"/>
                </a:solidFill>
                <a:latin typeface="Aptos"/>
              </a:defRPr>
            </a:pPr>
            <a:r>
              <a:t>Tugas dijalankan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65099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" y="565099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73328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72414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Pekerjaan latar belakang perlu dirancang hemat baterai dan sumber daya perangkat.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TUGAS TERJADWAL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AlarmManager dan JobScheduler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11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5074920" cy="333756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00200"/>
            <a:ext cx="64008" cy="333756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4754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0D1B36"/>
                </a:solidFill>
                <a:latin typeface="Aptos"/>
              </a:defRPr>
            </a:pPr>
            <a:r>
              <a:t>ALARM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67128"/>
            <a:ext cx="4754880" cy="2679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• Menjadwalkan aksi pada waktu atau interval tertentu.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• Cocok untuk alarm dan pengingat.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• Jadwal perlu dibuat kembali setelah restart jika aplikasi membutuhkannya.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00200"/>
            <a:ext cx="5074920" cy="333756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64008" cy="333756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46504"/>
            <a:ext cx="4754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0D1B36"/>
                </a:solidFill>
                <a:latin typeface="Aptos"/>
              </a:defRPr>
            </a:pPr>
            <a:r>
              <a:t>JOB 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67128"/>
            <a:ext cx="4754880" cy="2679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• Menjadwalkan pekerjaan berdasarkan kondisi.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• Sistem memeriksa persyaratan pada JobInfo.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• Tersedia mulai Android 5.0 Lollipop (API 21).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230368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BANDINGKAN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202936"/>
            <a:ext cx="9052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D1B36"/>
                </a:solidFill>
                <a:latin typeface="Aptos"/>
              </a:defRPr>
            </a:pPr>
            <a:r>
              <a:t>AlarmManager  =  fokus pada WAKTU        |        JobScheduler  =  fokus pada KONDISI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92531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592531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600760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99846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Pilih mekanisme penjadwalan berdasarkan kebutuhan aplikasi, bukan sekadar agar tugas berjalan di latar belakang.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TUGAS TERJADWAL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Notification pada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12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08760"/>
            <a:ext cx="2926080" cy="4206240"/>
          </a:xfrm>
          <a:prstGeom prst="roundRect">
            <a:avLst/>
          </a:prstGeom>
          <a:solidFill>
            <a:srgbClr val="0D1B36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1783080"/>
            <a:ext cx="2560320" cy="36576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029968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1872" y="2487168"/>
            <a:ext cx="2148840" cy="1024128"/>
          </a:xfrm>
          <a:prstGeom prst="roundRect">
            <a:avLst/>
          </a:prstGeom>
          <a:solidFill>
            <a:srgbClr val="F8FAFD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89888" y="2633472"/>
            <a:ext cx="320040" cy="320040"/>
          </a:xfrm>
          <a:prstGeom prst="ellipse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2679192"/>
            <a:ext cx="3017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8FAF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587752"/>
            <a:ext cx="1417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Pengingat kegiatan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2862072"/>
            <a:ext cx="1417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Jadwal dimulai 10 menit lagi.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572768"/>
            <a:ext cx="3154680" cy="9144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572768"/>
            <a:ext cx="64008" cy="91440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719072"/>
            <a:ext cx="2834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D1B36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39696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1E2A3B"/>
                </a:solidFill>
                <a:latin typeface="Aptos"/>
              </a:defRPr>
            </a:pPr>
            <a:r>
              <a:t>Mengelompokkan jenis notifikasi.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572768"/>
            <a:ext cx="3154680" cy="9144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1572768"/>
            <a:ext cx="64008" cy="9144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719072"/>
            <a:ext cx="2834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D1B36"/>
                </a:solidFill>
                <a:latin typeface="Aptos"/>
              </a:defRPr>
            </a:pPr>
            <a:r>
              <a:t>BUILDER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139696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1E2A3B"/>
                </a:solidFill>
                <a:latin typeface="Aptos"/>
              </a:defRPr>
            </a:pPr>
            <a:r>
              <a:t>Menyusun judul, isi, ikon, dan opsi.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788920"/>
            <a:ext cx="3154680" cy="9144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2788920"/>
            <a:ext cx="64008" cy="91440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935224"/>
            <a:ext cx="2834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D1B36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55848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1E2A3B"/>
                </a:solidFill>
                <a:latin typeface="Aptos"/>
              </a:defRPr>
            </a:pPr>
            <a:r>
              <a:t>Mengirim, memperbarui, atau membatalkan.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2788920"/>
            <a:ext cx="3154680" cy="9144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788920"/>
            <a:ext cx="64008" cy="914400"/>
          </a:xfrm>
          <a:prstGeom prst="rect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935224"/>
            <a:ext cx="2834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D1B36"/>
                </a:solidFill>
                <a:latin typeface="Aptos"/>
              </a:defRPr>
            </a:pPr>
            <a:r>
              <a:t>PENDINGINTENT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355848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1E2A3B"/>
                </a:solidFill>
                <a:latin typeface="Aptos"/>
              </a:defRPr>
            </a:pPr>
            <a:r>
              <a:t>Menentukan aksi saat notifikasi ditekan.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160520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ALUR SEDERHANA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526280"/>
            <a:ext cx="6355080" cy="29260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572000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Pengguna menekan tombol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919472"/>
            <a:ext cx="6355080" cy="29260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4965192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Aplikasi membangun notifikasi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5312664"/>
            <a:ext cx="6355080" cy="29260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5358384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Pesan tampil di perangkat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92531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" y="592531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600760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99846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Notifikasi membuat informasi penting tetap terlihat meskipun aplikasi tidak sedang dibuka.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PENYIMPANAN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Konsep Penyimpanan Data pada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13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627632"/>
            <a:ext cx="3401568" cy="123444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27632"/>
            <a:ext cx="64008" cy="123444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73936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SharedPreferences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94560"/>
            <a:ext cx="3081528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Preferensi sederhana: tema, nama tampilan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627632"/>
            <a:ext cx="3401568" cy="123444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627632"/>
            <a:ext cx="64008" cy="123444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73936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Internal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94560"/>
            <a:ext cx="3081528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File privat aplikasi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8" y="1627632"/>
            <a:ext cx="3401568" cy="123444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9328" y="1627632"/>
            <a:ext cx="64008" cy="123444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1773936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External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194560"/>
            <a:ext cx="3081528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File pada area penyimpanan sesuai aturan dan izin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3182112"/>
            <a:ext cx="3401568" cy="123444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" y="3182112"/>
            <a:ext cx="64008" cy="1234440"/>
          </a:xfrm>
          <a:prstGeom prst="rect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328416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749039"/>
            <a:ext cx="3081528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Data terstruktur dalam tabel lokal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182112"/>
            <a:ext cx="3401568" cy="123444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182112"/>
            <a:ext cx="64008" cy="1234440"/>
          </a:xfrm>
          <a:prstGeom prst="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328416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Content 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749039"/>
            <a:ext cx="3081528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Mekanisme berbagi/mengelola data antarkomponen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9328" y="3182112"/>
            <a:ext cx="3401568" cy="123444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39328" y="3182112"/>
            <a:ext cx="64008" cy="1234440"/>
          </a:xfrm>
          <a:prstGeom prst="rect">
            <a:avLst/>
          </a:prstGeom>
          <a:solidFill>
            <a:srgbClr val="70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3328416"/>
            <a:ext cx="30815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Cloud / Firebase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3749039"/>
            <a:ext cx="3081528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Data online yang dapat disinkronkan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983480"/>
            <a:ext cx="2560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PERTIMBANGAN PEMILIHAN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21808"/>
            <a:ext cx="104241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D1B36"/>
                </a:solidFill>
                <a:latin typeface="Aptos"/>
              </a:defRPr>
            </a:pPr>
            <a:r>
              <a:t>Jenis data  •  kebutuhan keamanan  •  akses offline/online  •  kebutuhan sinkronisasi  •  ukuran dan struktur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592531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" y="592531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600760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599846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Pilih penyimpanan berdasarkan karakter data dan cara data akan digunakan.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PENYIMPANAN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SharedPreferences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14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3657600" cy="14173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54480"/>
            <a:ext cx="64008" cy="141732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00784"/>
            <a:ext cx="33375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APA ITU?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21408"/>
            <a:ext cx="3337560" cy="758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Penyimpanan sederhana berbentuk pasangan key-value.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1554480"/>
            <a:ext cx="2880360" cy="14173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592" y="1554480"/>
            <a:ext cx="64008" cy="141732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1700784"/>
            <a:ext cx="2560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TIPE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121408"/>
            <a:ext cx="2560320" cy="758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String, int, boolean, float, long.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554480"/>
            <a:ext cx="3429000" cy="14173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554480"/>
            <a:ext cx="64008" cy="141732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1700784"/>
            <a:ext cx="3108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CONTOH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121408"/>
            <a:ext cx="3108960" cy="758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1E2A3B"/>
                </a:solidFill>
                <a:latin typeface="Aptos"/>
              </a:defRPr>
            </a:pPr>
            <a:r>
              <a:t>Nama pengguna atau pilihan tema aplikasi.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383280"/>
            <a:ext cx="2194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ALUR PENYIMPANAN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3822191"/>
            <a:ext cx="1938528" cy="9144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77639"/>
            <a:ext cx="329184" cy="329184"/>
          </a:xfrm>
          <a:prstGeom prst="ellipse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59936"/>
            <a:ext cx="32918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959352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Ambil SharedPreferences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2344" y="4096512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2370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72384" y="3822191"/>
            <a:ext cx="1938528" cy="9144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82112" y="3977639"/>
            <a:ext cx="329184" cy="329184"/>
          </a:xfrm>
          <a:prstGeom prst="ellipse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82112" y="4059936"/>
            <a:ext cx="32918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5304" y="3959352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Gunakan Editor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4096512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2370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0096" y="3822191"/>
            <a:ext cx="1938528" cy="9144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49824" y="3977639"/>
            <a:ext cx="329184" cy="329184"/>
          </a:xfrm>
          <a:prstGeom prst="ellipse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9824" y="4059936"/>
            <a:ext cx="32918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959352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putString() / putInt()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7768" y="4096512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2370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07808" y="3822191"/>
            <a:ext cx="1938528" cy="9144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17536" y="3977639"/>
            <a:ext cx="329184" cy="329184"/>
          </a:xfrm>
          <a:prstGeom prst="ellipse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17536" y="4059936"/>
            <a:ext cx="32918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8" y="3959352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apply() atau commit()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096512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2370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0" y="3822191"/>
            <a:ext cx="1938528" cy="9144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85248" y="3977639"/>
            <a:ext cx="329184" cy="329184"/>
          </a:xfrm>
          <a:prstGeom prst="ellipse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85248" y="4059936"/>
            <a:ext cx="32918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3959352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Baca dengan get...()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" y="5074920"/>
            <a:ext cx="5029200" cy="566928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" y="5074920"/>
            <a:ext cx="64008" cy="566928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5221224"/>
            <a:ext cx="4709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D1B36"/>
                </a:solidFill>
                <a:latin typeface="Aptos"/>
              </a:defRPr>
            </a:pPr>
            <a:r>
              <a:t>BEDAKAN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5641848"/>
            <a:ext cx="4709160" cy="-914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1E2A3B"/>
                </a:solidFill>
                <a:latin typeface="Aptos"/>
              </a:defRPr>
            </a:pPr>
            <a:r>
              <a:t>SharedPreferences: preferensi antarsesi.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44768" y="5074920"/>
            <a:ext cx="5029200" cy="566928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44768" y="5074920"/>
            <a:ext cx="64008" cy="566928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5221224"/>
            <a:ext cx="4709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D1B36"/>
                </a:solidFill>
                <a:latin typeface="Aptos"/>
              </a:defRPr>
            </a:pPr>
            <a:r>
              <a:t>SAVED INSTANCE 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5641848"/>
            <a:ext cx="4709160" cy="-914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1E2A3B"/>
                </a:solidFill>
                <a:latin typeface="Aptos"/>
              </a:defRPr>
            </a:pPr>
            <a:r>
              <a:t>Memulihkan kondisi UI sementara.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" y="592531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" y="592531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00760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0" y="599846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SharedPreferences cocok untuk data kecil dan sederhana, bukan untuk menyimpan data rahasia tanpa perlindungan.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PENYIMPANAN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SQLite Database pada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15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104241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SQLite adalah database lokal untuk menyimpan data terstruktur dalam tabel, tanpa harus selalu terhubung ke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3337560" cy="11430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31720"/>
            <a:ext cx="64008" cy="114300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78024"/>
            <a:ext cx="3017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SQLiteDatabase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30175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Menjalankan operasi pada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331720"/>
            <a:ext cx="3337560" cy="11430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331720"/>
            <a:ext cx="64008" cy="1143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478024"/>
            <a:ext cx="3017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SQLiteOpenHelper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98648"/>
            <a:ext cx="30175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Membantu membuat dan mengelola database.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331720"/>
            <a:ext cx="3337560" cy="114300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331720"/>
            <a:ext cx="64008" cy="114300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478024"/>
            <a:ext cx="30175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onCreate()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98648"/>
            <a:ext cx="3017520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E2A3B"/>
                </a:solidFill>
                <a:latin typeface="Aptos"/>
              </a:defRPr>
            </a:pPr>
            <a:r>
              <a:t>Membuat tabel saat database dibuat pertama kali.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862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SIKLUS CRUD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315968"/>
            <a:ext cx="2423160" cy="98755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62272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2370D2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82312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0" i="0">
                <a:solidFill>
                  <a:srgbClr val="0D1B36"/>
                </a:solidFill>
                <a:latin typeface="Aptos"/>
              </a:defRPr>
            </a:pPr>
            <a:r>
              <a:t>Tambah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39312" y="4315968"/>
            <a:ext cx="2423160" cy="98755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472" y="4462272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33C4BE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782312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0" i="0">
                <a:solidFill>
                  <a:srgbClr val="0D1B36"/>
                </a:solidFill>
                <a:latin typeface="Aptos"/>
              </a:defRPr>
            </a:pPr>
            <a:r>
              <a:t>Tampilkan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55664" y="4315968"/>
            <a:ext cx="2423160" cy="98755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2824" y="4462272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3DBE75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824" y="4782312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0" i="0">
                <a:solidFill>
                  <a:srgbClr val="0D1B36"/>
                </a:solidFill>
                <a:latin typeface="Aptos"/>
              </a:defRPr>
            </a:pPr>
            <a:r>
              <a:t>Ubah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72016" y="4315968"/>
            <a:ext cx="2423160" cy="98755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9176" y="4462272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AE4D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9176" y="4782312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0" i="0">
                <a:solidFill>
                  <a:srgbClr val="0D1B36"/>
                </a:solidFill>
                <a:latin typeface="Aptos"/>
              </a:defRPr>
            </a:pPr>
            <a:r>
              <a:t>Hapus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592531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" y="592531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600760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599846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SQLite cocok untuk data lokal seperti biodata, catatan, daftar barang, dan data mahasiswa.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PENYIMPANAN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Pengenalan Firebase Realtime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16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3291840" cy="132588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72768"/>
            <a:ext cx="64008" cy="1325880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19072"/>
            <a:ext cx="2971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39696"/>
            <a:ext cx="2971800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Data disimpan pada layanan online, bukan hanya di perangkat.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572768"/>
            <a:ext cx="3291840" cy="132588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1572768"/>
            <a:ext cx="64008" cy="132588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719072"/>
            <a:ext cx="2971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FORMAT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139696"/>
            <a:ext cx="2971800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Model NoSQL dengan struktur data berbentuk JSON.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572768"/>
            <a:ext cx="3291840" cy="132588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572768"/>
            <a:ext cx="64008" cy="1325880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719072"/>
            <a:ext cx="2971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D1B36"/>
                </a:solidFill>
                <a:latin typeface="Aptos"/>
              </a:defRPr>
            </a:pPr>
            <a:r>
              <a:t>REALTIME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39696"/>
            <a:ext cx="2971800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1E2A3B"/>
                </a:solidFill>
                <a:latin typeface="Aptos"/>
              </a:defRPr>
            </a:pPr>
            <a:r>
              <a:t>Perubahan dapat disinkronkan ke klien yang terhubung.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401568"/>
            <a:ext cx="2194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ALUR DATA ONLINE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822191"/>
            <a:ext cx="3200400" cy="11430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977639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Aplikasi Android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343400"/>
            <a:ext cx="2834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Pengguna memasukkan atau meminta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4187952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2370D2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0288" y="3822191"/>
            <a:ext cx="3200400" cy="11430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3977639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4343400"/>
            <a:ext cx="2834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Data dibaca atau diperbarui di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187952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2370D2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9327" y="3822191"/>
            <a:ext cx="3200400" cy="1143000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977639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Perangkat lain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7" y="4343400"/>
            <a:ext cx="2834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56677E"/>
                </a:solidFill>
                <a:latin typeface="Aptos"/>
              </a:defRPr>
            </a:pPr>
            <a:r>
              <a:t>Klien terhubung menerima perubahan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85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370D2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285232"/>
            <a:ext cx="3383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Lokal • akses offline • data di perangkat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5285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DBE75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85232"/>
            <a:ext cx="3840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Cloud • sinkronisasi • data bersama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92531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" y="592531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600760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99846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SQLite dan Firebase dapat saling melengkapi: pilih sesuai kebutuhan lokal atau sinkronisasi online.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70D2"/>
                </a:solidFill>
                <a:latin typeface="Aptos"/>
              </a:defRPr>
            </a:pPr>
            <a:r>
              <a:t>PENYIMPANAN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D1B36"/>
                </a:solidFill>
                <a:latin typeface="Aptos"/>
              </a:defRPr>
            </a:pPr>
            <a:r>
              <a:t>CRUD pada Firebase dan Keamanan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972800" cy="2286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17  /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PEMROGRAMAN MOBILE II  •  ANDROID &amp;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56677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572768"/>
            <a:ext cx="2468880" cy="120700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572768"/>
            <a:ext cx="64008" cy="120700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19072"/>
            <a:ext cx="2148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39696"/>
            <a:ext cx="2148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Menambahkan agenda atau data baru.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1024" y="1572768"/>
            <a:ext cx="2468880" cy="120700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21024" y="1572768"/>
            <a:ext cx="64008" cy="1207008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1719072"/>
            <a:ext cx="2148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139696"/>
            <a:ext cx="2148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Mengambil dan menampilkan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1572768"/>
            <a:ext cx="2468880" cy="120700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1572768"/>
            <a:ext cx="64008" cy="1207008"/>
          </a:xfrm>
          <a:prstGeom prst="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1719072"/>
            <a:ext cx="2148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139696"/>
            <a:ext cx="2148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Memperbaiki informasi yang sudah 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1572768"/>
            <a:ext cx="2468880" cy="120700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3728" y="1572768"/>
            <a:ext cx="64008" cy="1207008"/>
          </a:xfrm>
          <a:prstGeom prst="rect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1719072"/>
            <a:ext cx="2148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1B36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139696"/>
            <a:ext cx="2148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1E2A3B"/>
                </a:solidFill>
                <a:latin typeface="Aptos"/>
              </a:defRPr>
            </a:pPr>
            <a:r>
              <a:t>Menghapus data yang tidak dibutuhkan.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246120"/>
            <a:ext cx="3840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370D2"/>
                </a:solidFill>
                <a:latin typeface="Aptos"/>
              </a:defRPr>
            </a:pPr>
            <a:r>
              <a:t>TAHAP MENGHUBUNGKAN FIREBASE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639312"/>
            <a:ext cx="3310128" cy="4754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58184"/>
            <a:ext cx="3063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1.  Buat project di Firebase Console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639312"/>
            <a:ext cx="3310128" cy="4754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758184"/>
            <a:ext cx="3063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2.  Daftarkan aplikasi Android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639312"/>
            <a:ext cx="3310128" cy="4754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758184"/>
            <a:ext cx="3063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3.  Tambahkan google-services.json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297680"/>
            <a:ext cx="3310128" cy="4754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416552"/>
            <a:ext cx="3063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4.  Pasang SDK dan dependensi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297680"/>
            <a:ext cx="3310128" cy="47548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416552"/>
            <a:ext cx="3063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D1B36"/>
                </a:solidFill>
                <a:latin typeface="Aptos"/>
              </a:defRPr>
            </a:pPr>
            <a:r>
              <a:t>5.  Atur Realtime Database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074920"/>
            <a:ext cx="10561320" cy="566928"/>
          </a:xfrm>
          <a:prstGeom prst="roundRect">
            <a:avLst/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5074920"/>
            <a:ext cx="73152" cy="566928"/>
          </a:xfrm>
          <a:prstGeom prst="rect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5193792"/>
            <a:ext cx="10515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A05B00"/>
                </a:solidFill>
                <a:latin typeface="Aptos"/>
              </a:defRPr>
            </a:pPr>
            <a:r>
              <a:t>KEAMANAN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84831" y="5157216"/>
            <a:ext cx="8961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0D1B36"/>
                </a:solidFill>
                <a:latin typeface="Aptos"/>
              </a:defRPr>
            </a:pPr>
            <a:r>
              <a:t>Batasi izin baca/tulis dengan aturan database yang tepat. Jangan biarkan semua orang bebas mengakses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925312"/>
            <a:ext cx="10927080" cy="566928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" y="5925312"/>
            <a:ext cx="73152" cy="566928"/>
          </a:xfrm>
          <a:prstGeom prst="rect">
            <a:avLst/>
          </a:prstGeom>
          <a:solidFill>
            <a:srgbClr val="23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6007608"/>
            <a:ext cx="12344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2370D2"/>
                </a:solidFill>
                <a:latin typeface="Aptos"/>
              </a:defRPr>
            </a:pPr>
            <a:r>
              <a:t>INTI MATERI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998464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D1B36"/>
                </a:solidFill>
                <a:latin typeface="Aptos"/>
              </a:defRPr>
            </a:pPr>
            <a:r>
              <a:t>Firebase mempermudah pengelolaan data online, tetapi aturan akses tetap wajib diatur dengan benar.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3C4BE"/>
                </a:solidFill>
                <a:latin typeface="Aptos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77724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3000" b="1" i="0">
                <a:solidFill>
                  <a:srgbClr val="F8FAFD"/>
                </a:solidFill>
                <a:latin typeface="Aptos"/>
              </a:defRPr>
            </a:pPr>
            <a:r>
              <a:t>Membangun aplikasi Android</a:t>
            </a:r>
          </a:p>
          <a:p>
            <a:pPr algn="l">
              <a:spcAft>
                <a:spcPts val="500"/>
              </a:spcAft>
              <a:defRPr sz="3000" b="1" i="0">
                <a:solidFill>
                  <a:srgbClr val="F8FAFD"/>
                </a:solidFill>
                <a:latin typeface="Aptos"/>
              </a:defRPr>
            </a:pPr>
            <a:r>
              <a:t>bukan hanya menulis kode.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331720"/>
            <a:ext cx="5074920" cy="713232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441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3C4BE"/>
                </a:solidFill>
                <a:latin typeface="Aptos"/>
              </a:defRPr>
            </a:pPr>
            <a:r>
              <a:t>DASAR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423160"/>
            <a:ext cx="32918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Android Studio, Java, XML, dan SDK.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331720"/>
            <a:ext cx="5074920" cy="713232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2441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DBE75"/>
                </a:solidFill>
                <a:latin typeface="Aptos"/>
              </a:defRPr>
            </a:pPr>
            <a:r>
              <a:t>KOMPONEN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2423160"/>
            <a:ext cx="32918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Activity, Intent, Fragment, dan UI/UX.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291839"/>
            <a:ext cx="5074920" cy="713232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401568"/>
            <a:ext cx="1463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3C4BE"/>
                </a:solidFill>
                <a:latin typeface="Aptos"/>
              </a:defRPr>
            </a:pPr>
            <a:r>
              <a:t>PROSES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3383279"/>
            <a:ext cx="32918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Layout, navigasi, background task, notifikasi.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91839"/>
            <a:ext cx="5074920" cy="713232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3401568"/>
            <a:ext cx="1463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DBE7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3383279"/>
            <a:ext cx="32918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SharedPreferences, SQLite, dan Firebase.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251960"/>
            <a:ext cx="5074920" cy="713232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361688"/>
            <a:ext cx="1463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3C4BE"/>
                </a:solidFill>
                <a:latin typeface="Aptos"/>
              </a:defRPr>
            </a:pPr>
            <a:r>
              <a:t>TANGGUNG JAWAB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343400"/>
            <a:ext cx="32918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Pilih penyimpanan yang sesuai dan jaga keamanan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577840"/>
            <a:ext cx="3931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F8FAFD"/>
                </a:solidFill>
                <a:latin typeface="Aptos"/>
              </a:defRPr>
            </a:pPr>
            <a:r>
              <a:t>TERIMA KASIH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16752"/>
            <a:ext cx="6217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E2EAF4"/>
                </a:solidFill>
                <a:latin typeface="Aptos"/>
              </a:defRPr>
            </a:pPr>
            <a:r>
              <a:t>Demikian presentasi materi Pemrograman Mobile II.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5559552"/>
            <a:ext cx="3611880" cy="658368"/>
          </a:xfrm>
          <a:prstGeom prst="roundRect">
            <a:avLst/>
          </a:prstGeom>
          <a:solidFill>
            <a:srgbClr val="3D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5760720"/>
            <a:ext cx="3246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F8FAFD"/>
                </a:solidFill>
                <a:latin typeface="Aptos"/>
              </a:defRPr>
            </a:pPr>
            <a:r>
              <a:t>Apakah ada pertanyaan?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9CAEC6"/>
                </a:solidFill>
                <a:latin typeface="Aptos"/>
              </a:defRPr>
            </a:pPr>
            <a:r>
              <a:t>SUCI RIZKI RAMADHANI DAMANIK  •  2302162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Ringkasan Materi Pemrograman Mobile II</dc:title>
  <dc:subject>Pemrograman Mobile Android dengan Java</dc:subject>
  <dc:creator>Suci Rizki Ramadhani Damanik</dc:creator>
  <cp:keywords>Android, Java, Mobile Programming, SQLite, Firebase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